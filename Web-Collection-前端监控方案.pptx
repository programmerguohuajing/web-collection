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da1e7ebd04a08" /><Relationship Type="http://schemas.openxmlformats.org/officeDocument/2006/relationships/extended-properties" Target="/docProps/app.xml" Id="Re96ba542c5774db5" /><Relationship Type="http://schemas.openxmlformats.org/officeDocument/2006/relationships/officeDocument" Target="/ppt/presentation.xml" Id="Rfe048b47f1b249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ff16d6a6e4f52"/>
  </p:sldMasterIdLst>
  <p:notesMasterIdLst>
    <p:notesMasterId xmlns:r="http://schemas.openxmlformats.org/officeDocument/2006/relationships" r:id="R8d7ff97fd58c47be"/>
  </p:notesMasterIdLst>
  <p:sldIdLst>
    <p:sldId xmlns:r="http://schemas.openxmlformats.org/officeDocument/2006/relationships" id="256" r:id="R7e3c639d4ada4e79"/>
    <p:sldId xmlns:r="http://schemas.openxmlformats.org/officeDocument/2006/relationships" id="257" r:id="R6072dc55aa284bdb"/>
    <p:sldId xmlns:r="http://schemas.openxmlformats.org/officeDocument/2006/relationships" id="258" r:id="Rb953a622eb5c4a50"/>
    <p:sldId xmlns:r="http://schemas.openxmlformats.org/officeDocument/2006/relationships" id="259" r:id="R0e17b65a29fd4f63"/>
    <p:sldId xmlns:r="http://schemas.openxmlformats.org/officeDocument/2006/relationships" id="260" r:id="R27797f4c35fb40ca"/>
    <p:sldId xmlns:r="http://schemas.openxmlformats.org/officeDocument/2006/relationships" id="261" r:id="R7c1b80bbb7404c14"/>
    <p:sldId xmlns:r="http://schemas.openxmlformats.org/officeDocument/2006/relationships" id="262" r:id="R5773974367e94e8d"/>
    <p:sldId xmlns:r="http://schemas.openxmlformats.org/officeDocument/2006/relationships" id="263" r:id="R2c1bedc815944383"/>
    <p:sldId xmlns:r="http://schemas.openxmlformats.org/officeDocument/2006/relationships" id="264" r:id="Rd261fd0ecd2848d8"/>
    <p:sldId xmlns:r="http://schemas.openxmlformats.org/officeDocument/2006/relationships" id="265" r:id="R335859e4cc604b0a"/>
    <p:sldId xmlns:r="http://schemas.openxmlformats.org/officeDocument/2006/relationships" id="266" r:id="Rbdfdf35609e44a1b"/>
    <p:sldId xmlns:r="http://schemas.openxmlformats.org/officeDocument/2006/relationships" id="267" r:id="Rcb450e0615384d7d"/>
    <p:sldId xmlns:r="http://schemas.openxmlformats.org/officeDocument/2006/relationships" id="268" r:id="Rb79ff2f19bb24893"/>
    <p:sldId xmlns:r="http://schemas.openxmlformats.org/officeDocument/2006/relationships" id="269" r:id="R0de1f7dbe82045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349c692374f76" /><Relationship Type="http://schemas.openxmlformats.org/officeDocument/2006/relationships/slideMaster" Target="/ppt/slideMasters/slideMaster1.xml" Id="R439ff16d6a6e4f52" /><Relationship Type="http://schemas.openxmlformats.org/officeDocument/2006/relationships/notesMaster" Target="/ppt/notesMasters/notesMaster1.xml" Id="R8d7ff97fd58c47be" /><Relationship Type="http://schemas.openxmlformats.org/officeDocument/2006/relationships/presProps" Target="/ppt/presProps.xml" Id="R4f2f14efec1140dd" /><Relationship Type="http://schemas.openxmlformats.org/officeDocument/2006/relationships/tableStyles" Target="/ppt/tableStyles.xml" Id="R3c4d54c6553d4a59" /><Relationship Type="http://schemas.openxmlformats.org/officeDocument/2006/relationships/slide" Target="/ppt/slides/slide1.xml" Id="R7e3c639d4ada4e79" /><Relationship Type="http://schemas.openxmlformats.org/officeDocument/2006/relationships/slide" Target="/ppt/slides/slide2.xml" Id="R6072dc55aa284bdb" /><Relationship Type="http://schemas.openxmlformats.org/officeDocument/2006/relationships/slide" Target="/ppt/slides/slide3.xml" Id="Rb953a622eb5c4a50" /><Relationship Type="http://schemas.openxmlformats.org/officeDocument/2006/relationships/slide" Target="/ppt/slides/slide4.xml" Id="R0e17b65a29fd4f63" /><Relationship Type="http://schemas.openxmlformats.org/officeDocument/2006/relationships/slide" Target="/ppt/slides/slide5.xml" Id="R27797f4c35fb40ca" /><Relationship Type="http://schemas.openxmlformats.org/officeDocument/2006/relationships/slide" Target="/ppt/slides/slide6.xml" Id="R7c1b80bbb7404c14" /><Relationship Type="http://schemas.openxmlformats.org/officeDocument/2006/relationships/slide" Target="/ppt/slides/slide7.xml" Id="R5773974367e94e8d" /><Relationship Type="http://schemas.openxmlformats.org/officeDocument/2006/relationships/slide" Target="/ppt/slides/slide8.xml" Id="R2c1bedc815944383" /><Relationship Type="http://schemas.openxmlformats.org/officeDocument/2006/relationships/slide" Target="/ppt/slides/slide9.xml" Id="Rd261fd0ecd2848d8" /><Relationship Type="http://schemas.openxmlformats.org/officeDocument/2006/relationships/slide" Target="/ppt/slides/slide10.xml" Id="R335859e4cc604b0a" /><Relationship Type="http://schemas.openxmlformats.org/officeDocument/2006/relationships/slide" Target="/ppt/slides/slide11.xml" Id="Rbdfdf35609e44a1b" /><Relationship Type="http://schemas.openxmlformats.org/officeDocument/2006/relationships/slide" Target="/ppt/slides/slide12.xml" Id="Rcb450e0615384d7d" /><Relationship Type="http://schemas.openxmlformats.org/officeDocument/2006/relationships/slide" Target="/ppt/slides/slide13.xml" Id="Rb79ff2f19bb24893" /><Relationship Type="http://schemas.openxmlformats.org/officeDocument/2006/relationships/slide" Target="/ppt/slides/slide14.xml" Id="R0de1f7dbe820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6728d3c5f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568b462dc4a5d" /><Relationship Type="http://schemas.openxmlformats.org/officeDocument/2006/relationships/notesMaster" Target="/ppt/notesMasters/notesMaster1.xml" Id="R5619e2fccd8046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4b4ebb35a4309" /><Relationship Type="http://schemas.openxmlformats.org/officeDocument/2006/relationships/notesMaster" Target="/ppt/notesMasters/notesMaster1.xml" Id="R82bb0b807c9542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ac078039b4c7f" /><Relationship Type="http://schemas.openxmlformats.org/officeDocument/2006/relationships/notesMaster" Target="/ppt/notesMasters/notesMaster1.xml" Id="R8fedd38941cb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ad056c86a47c7" /><Relationship Type="http://schemas.openxmlformats.org/officeDocument/2006/relationships/notesMaster" Target="/ppt/notesMasters/notesMaster1.xml" Id="R5f9f55da807944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ba89019374a54" /><Relationship Type="http://schemas.openxmlformats.org/officeDocument/2006/relationships/notesMaster" Target="/ppt/notesMasters/notesMaster1.xml" Id="R89016ab11d154a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d4a135e8a437d" /><Relationship Type="http://schemas.openxmlformats.org/officeDocument/2006/relationships/notesMaster" Target="/ppt/notesMasters/notesMaster1.xml" Id="R2152749c652c45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e15984b9834b27" /><Relationship Type="http://schemas.openxmlformats.org/officeDocument/2006/relationships/notesMaster" Target="/ppt/notesMasters/notesMaster1.xml" Id="Rb8f6d53ddd7f4d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605366510b4ce7" /><Relationship Type="http://schemas.openxmlformats.org/officeDocument/2006/relationships/notesMaster" Target="/ppt/notesMasters/notesMaster1.xml" Id="R36608c8b587142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f4dae049b48b5" /><Relationship Type="http://schemas.openxmlformats.org/officeDocument/2006/relationships/notesMaster" Target="/ppt/notesMasters/notesMaster1.xml" Id="Ra170fd78d71241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2b42550f34e25" /><Relationship Type="http://schemas.openxmlformats.org/officeDocument/2006/relationships/notesMaster" Target="/ppt/notesMasters/notesMaster1.xml" Id="R409c183ae7ff45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1726d003445ca" /><Relationship Type="http://schemas.openxmlformats.org/officeDocument/2006/relationships/notesMaster" Target="/ppt/notesMasters/notesMaster1.xml" Id="R49cdc573701741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3993b8d7654cee" /><Relationship Type="http://schemas.openxmlformats.org/officeDocument/2006/relationships/notesMaster" Target="/ppt/notesMasters/notesMaster1.xml" Id="Rc1f47c339d034f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9332f35b0e4e13" /><Relationship Type="http://schemas.openxmlformats.org/officeDocument/2006/relationships/notesMaster" Target="/ppt/notesMasters/notesMaster1.xml" Id="R200243cc904446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68ce19760b405b" /><Relationship Type="http://schemas.openxmlformats.org/officeDocument/2006/relationships/notesMaster" Target="/ppt/notesMasters/notesMaster1.xml" Id="Rf6a5a34bc4a140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f163c7e5f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b1d244a3749ee" /><Relationship Type="http://schemas.openxmlformats.org/officeDocument/2006/relationships/slideLayout" Target="/ppt/slideLayouts/slideLayout1.xml" Id="Rd693b901bd664e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3b901bd664e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cf4216bf74fb4" /><Relationship Type="http://schemas.openxmlformats.org/officeDocument/2006/relationships/notesSlide" Target="/ppt/notesSlides/notesSlide1.xml" Id="R2c4db268b272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52506195f4add" /><Relationship Type="http://schemas.openxmlformats.org/officeDocument/2006/relationships/notesSlide" Target="/ppt/notesSlides/notesSlide2.xml" Id="R73c090746c1d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6775ea174b55" /><Relationship Type="http://schemas.openxmlformats.org/officeDocument/2006/relationships/notesSlide" Target="/ppt/notesSlides/notesSlide3.xml" Id="R8cdd630e6f72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f546a96454755" /><Relationship Type="http://schemas.openxmlformats.org/officeDocument/2006/relationships/notesSlide" Target="/ppt/notesSlides/notesSlide4.xml" Id="Rc329986292f7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dc4dc1c014381" /><Relationship Type="http://schemas.openxmlformats.org/officeDocument/2006/relationships/notesSlide" Target="/ppt/notesSlides/notesSlide5.xml" Id="R77859c398d4b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b96fcdd34010" /><Relationship Type="http://schemas.openxmlformats.org/officeDocument/2006/relationships/notesSlide" Target="/ppt/notesSlides/notesSlide6.xml" Id="Rfe9269c821d64d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075b111054e9c" /><Relationship Type="http://schemas.openxmlformats.org/officeDocument/2006/relationships/notesSlide" Target="/ppt/notesSlides/notesSlide7.xml" Id="R81aeab2401874e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74e1120e342cb" /><Relationship Type="http://schemas.openxmlformats.org/officeDocument/2006/relationships/notesSlide" Target="/ppt/notesSlides/notesSlide8.xml" Id="Rf24f1d4d3d06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818f0485e45aa" /><Relationship Type="http://schemas.openxmlformats.org/officeDocument/2006/relationships/notesSlide" Target="/ppt/notesSlides/notesSlide9.xml" Id="R16443a3dc5b941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cd93ffd454649" /><Relationship Type="http://schemas.openxmlformats.org/officeDocument/2006/relationships/notesSlide" Target="/ppt/notesSlides/notesSlide10.xml" Id="R5b45613603db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0862b4184456c" /><Relationship Type="http://schemas.openxmlformats.org/officeDocument/2006/relationships/notesSlide" Target="/ppt/notesSlides/notesSlide11.xml" Id="R0174cc2f545648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065c449b84498" /><Relationship Type="http://schemas.openxmlformats.org/officeDocument/2006/relationships/notesSlide" Target="/ppt/notesSlides/notesSlide12.xml" Id="R11f0416ecc814f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e941be698427b" /><Relationship Type="http://schemas.openxmlformats.org/officeDocument/2006/relationships/notesSlide" Target="/ppt/notesSlides/notesSlide13.xml" Id="Rb45bb2eeaccd4b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f374667474ab7" /><Relationship Type="http://schemas.openxmlformats.org/officeDocument/2006/relationships/notesSlide" Target="/ppt/notesSlides/notesSlide14.xml" Id="R56bfabc20c51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A687E125-5733-4FD5-885D-2CE830B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5D138CC-4180-492E-BD48-E0FD493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" y="781050"/>
            <a:ext cx="147383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52AED9E-056D-4F5B-A6FC-683B72A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36930"/>
            <a:ext cx="1238250" cy="212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4D399"/>
                </a:solidFill>
              </a:defRPr>
            </a:pPr>
            <a:r>
              <a:rPr sz="975" b="1">
                <a:solidFill>
                  <a:srgbClr val="34D399"/>
                </a:solidFill>
              </a:rPr>
              <a:t>自研前端监控平台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4BDF94C-A959-486B-9A7C-1EF5BB02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E8F2FF"/>
                </a:solidFill>
              </a:defRPr>
            </a:pPr>
            <a:r>
              <a:rPr sz="3750" b="1">
                <a:solidFill>
                  <a:srgbClr val="E8F2FF"/>
                </a:solidFill>
              </a:rPr>
              <a:t>把用户体验数据沉淀为公司自己的监控资产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779CC5B-5CAF-4403-90D7-6F5EC643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9DB1C8"/>
                </a:solidFill>
              </a:defRPr>
            </a:pPr>
            <a:r>
              <a:rPr sz="1650" b="0">
                <a:solidFill>
                  <a:srgbClr val="9DB1C8"/>
                </a:solidFill>
              </a:rPr>
              <a:t>Web Collection 统一覆盖 Web、小程序与 App 的埋点、性能、错误、SourceMap 与浏览器会话回放。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2DDD8FD-9F68-42CD-96C7-2550DF3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F39A5EE-415E-4281-BA8A-C10692F7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DD4FF"/>
                </a:solidFill>
              </a:defRPr>
            </a:pPr>
            <a:r>
              <a:rPr sz="2400" b="1">
                <a:solidFill>
                  <a:srgbClr val="2DD4FF"/>
                </a:solidFill>
              </a:rPr>
              <a:t>SDK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C2DE26-53AA-4D69-AC13-2C19541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浏览器端采集与上报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B82B26A1-C46C-446D-AC3D-45DF90ED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25A3F3-3A79-4C14-8BF4-C500F26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53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4D399"/>
                </a:solidFill>
              </a:defRPr>
            </a:pPr>
            <a:r>
              <a:rPr sz="2400" b="1">
                <a:solidFill>
                  <a:srgbClr val="34D399"/>
                </a:solidFill>
              </a:rPr>
              <a:t>API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9337D5F-05A4-406A-A9A4-24D0D2C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Node 接收与清洗入库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1C25EB8-E3D9-41D7-817F-4F333E4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BAAAB7-2136-401A-AC65-B0E75B5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BBF24"/>
                </a:solidFill>
              </a:defRPr>
            </a:pPr>
            <a:r>
              <a:rPr sz="2400" b="1">
                <a:solidFill>
                  <a:srgbClr val="FBBF24"/>
                </a:solidFill>
              </a:rPr>
              <a:t>Console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CE004BD-1D16-49C7-94B4-7608758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48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Vue3 监控后台与回放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6F40401-5FBE-44DA-9654-509DAD9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1050"/>
            <a:ext cx="1123950" cy="4914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F2138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8D6B448-E528-4A67-B6C5-8FD25A6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945" y="1162050"/>
            <a:ext cx="7924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D4FF"/>
                </a:solidFill>
              </a:defRPr>
            </a:pPr>
            <a:r>
              <a:rPr sz="2250" b="1">
                <a:solidFill>
                  <a:srgbClr val="2DD4FF"/>
                </a:solidFill>
              </a:rPr>
              <a:t>2026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249BB732-60E0-4017-A468-C7C57A98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7335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DC4B473-DEA2-4547-BD7F-613FE1B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5262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B7DE607-135C-4E69-9066-9318EDB5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907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F2FF"/>
                </a:solidFill>
              </a:defRPr>
            </a:pPr>
            <a:r>
              <a:rPr sz="975" b="1">
                <a:solidFill>
                  <a:srgbClr val="E8F2FF"/>
                </a:solidFill>
              </a:rPr>
              <a:t>采集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59E0ABF0-E93B-4680-8028-9277A14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431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E59179B-087E-4958-A867-1034226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F2FF"/>
                </a:solidFill>
              </a:defRPr>
            </a:pPr>
            <a:r>
              <a:rPr sz="975" b="1">
                <a:solidFill>
                  <a:srgbClr val="E8F2FF"/>
                </a:solidFill>
              </a:rPr>
              <a:t>存储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2643B415-D961-4EBC-868E-0876FC4F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3372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886F0B1-D67B-479A-A118-60B8664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105" y="31623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F2FF"/>
                </a:solidFill>
              </a:defRPr>
            </a:pPr>
            <a:r>
              <a:rPr sz="975" b="1">
                <a:solidFill>
                  <a:srgbClr val="E8F2FF"/>
                </a:solidFill>
              </a:rPr>
              <a:t>分析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FC56ED9E-33C2-41CB-B1D7-7E22C13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242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4D4C01-401E-46C4-86C0-A5FC4CDD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F2FF"/>
                </a:solidFill>
              </a:defRPr>
            </a:pPr>
            <a:r>
              <a:rPr sz="975" b="1">
                <a:solidFill>
                  <a:srgbClr val="E8F2FF"/>
                </a:solidFill>
              </a:rPr>
              <a:t>定位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E98DF58C-C5A9-474C-8164-02B53333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1482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A06B382-84A5-41A3-ABC6-2847ECC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6499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8F2FF"/>
                </a:solidFill>
              </a:defRPr>
            </a:pPr>
            <a:r>
              <a:rPr sz="975" b="1">
                <a:solidFill>
                  <a:srgbClr val="E8F2FF"/>
                </a:solidFill>
              </a:rPr>
              <a:t>回放</a:t>
            </a:r>
          </a:p>
        </p:txBody>
      </p:sp>
    </p:spTree>
    <p:extLst>
      <p:ext uri="{BB962C8B-B14F-4D97-AF65-F5344CB8AC3E}">
        <p14:creationId xmlns:p14="http://schemas.microsoft.com/office/powerpoint/2010/main" val="1736767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95D208B-8B4D-424C-A46D-E777FD9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7D0779B-0D90-409A-951A-C1F112CD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3E251DC-F717-4CB7-A9B2-D95A0B9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7F28E9-D1A6-4F14-A297-5D06BA76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前端监控解决的是“真实用户现场不可见”的问题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2E0B44A-C8BC-41EA-A97D-E0F6E75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服务端正常不等于用户页面正常，页面能打开也不等于体验顺畅。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B1DA808-06D6-490E-A39D-B4CE5718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86E323A-6418-4A50-88BF-65ADAAF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98F049F-DD47-4ADE-8A7A-C2F180A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" cy="2000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D4FF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70AF6D-6338-4AF3-A899-869029AD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用户做了什么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0C5C4D5-34A7-471F-9917-001A301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076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PV、点击、路由、停留、滚动、曝光、自定义事件，帮助产品和运营理解真实路径。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C4FA9A6-4119-40F3-B381-6ED74F1C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04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5015687-9CC4-4BCB-878D-16A62A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04950"/>
            <a:ext cx="57150" cy="2000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BFCCE5B-23C7-498C-BFF7-F9C6FB1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页面为什么慢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9465EC4-A4BF-438F-8693-DC41BB6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076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FCP、LCP、CLS、TTFB、INP、longtask、慢接口、慢资源，定位体验瓶颈。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738741A-86D5-415F-BB2F-662A7CB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5E68281-3E8B-46DA-8A18-449A26A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7150" cy="2000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99EFD79-FCA0-48CB-8CF4-88F0770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错误为什么发生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42D223B-0E9C-4E1B-80B7-2473D3D1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2076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JS 异常、Promise 异常、资源错误、接口错误，结合 SourceMap 定位源码。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87C8DE2-34B5-4A0D-9762-C5FA596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7D1D9BA5-3A86-4632-87D2-BC4A4F9B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57150" cy="2000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86BBB50-EC1F-4DA7-98D5-2CADBDF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问题如何复现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2092DD0-6E40-4F3B-823C-599654B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1962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行为栈和 rrweb 会话回放，还原用户触发问题前后的完整操作路径。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A28C0D6-C78F-4816-A764-40152A3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F2FF"/>
                </a:solidFill>
              </a:defRPr>
            </a:pPr>
            <a:r>
              <a:rPr sz="2100" b="1">
                <a:solidFill>
                  <a:srgbClr val="E8F2FF"/>
                </a:solidFill>
              </a:rPr>
              <a:t>结果：从用户投诉后被动排查，变成后台主动发现、证据定位、版本复盘。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8D425E2D-547B-460F-9D5D-47EB5580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458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080ED4C-5BFB-4159-8A6B-145F3D0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00980"/>
            <a:ext cx="773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DD4FF"/>
                </a:solidFill>
              </a:defRPr>
            </a:pPr>
            <a:r>
              <a:rPr sz="1500" b="1">
                <a:solidFill>
                  <a:srgbClr val="2DD4FF"/>
                </a:solidFill>
              </a:rPr>
              <a:t>发现问题 → 定位源码 → 复现路径 → 修复验证 → 版本复盘</a:t>
            </a:r>
          </a:p>
        </p:txBody>
      </p:sp>
    </p:spTree>
    <p:extLst>
      <p:ext uri="{BB962C8B-B14F-4D97-AF65-F5344CB8AC3E}">
        <p14:creationId xmlns:p14="http://schemas.microsoft.com/office/powerpoint/2010/main" val="1006139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517681A7-470D-4A82-9630-C143A95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A3935CA-D413-4461-BB12-599FA0FA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E17B346-DEFF-4EFF-82D6-26B09965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28076C-0A40-4448-BDC2-43EB80DF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Web Collection</a:t>
            </a:r>
            <a:r>
              <a:rPr sz="2550" b="1">
                <a:solidFill>
                  <a:srgbClr val="E8F2FF"/>
                </a:solidFill>
              </a:rPr>
              <a:t> 已形成采集、入库、查询、回放的闭环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1CA7905-D466-4539-858B-7C19DA55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当前项目不是单点 SDK，而是一套可部署的前后端监控系统。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AA7F726-841F-432E-AF61-FB991F1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B2A4373-BFAB-4887-A39E-707B851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D4FC1FF-537D-431A-8F58-1633C25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D4FF"/>
                </a:solidFill>
              </a:defRPr>
            </a:pPr>
            <a:r>
              <a:rPr sz="2250" b="1">
                <a:solidFill>
                  <a:srgbClr val="2DD4FF"/>
                </a:solidFill>
              </a:rPr>
              <a:t>SDK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CA55DBA-878E-46DB-A5EF-C98DEA51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埋点 / 性能 / 错误 / 回放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9A028CB-4535-41C9-BC5C-E8A097A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15F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98D3AEB-FEDB-4D7B-8BEA-682732B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DB1C8"/>
                </a:solidFill>
              </a:defRPr>
            </a:pPr>
            <a:r>
              <a:rPr sz="2250" b="1">
                <a:solidFill>
                  <a:srgbClr val="9DB1C8"/>
                </a:solidFill>
              </a:rPr>
              <a:t>→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793CDA3-AB3B-4AE7-8E62-4ADF51C7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6ACAEBD-8899-4B67-B9AF-CA9BDB58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4D399"/>
                </a:solidFill>
              </a:defRPr>
            </a:pPr>
            <a:r>
              <a:rPr sz="2250" b="1">
                <a:solidFill>
                  <a:srgbClr val="34D399"/>
                </a:solidFill>
              </a:rPr>
              <a:t>上报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BF54AED-435B-4E4D-B3B1-18769A2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队列 / 批量 / GIF / Beacon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8B711F16-B1C4-46DF-A1A9-AC5B032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98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15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0F694A-C6D3-4C8C-9B87-62941095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DB1C8"/>
                </a:solidFill>
              </a:defRPr>
            </a:pPr>
            <a:r>
              <a:rPr sz="2250" b="1">
                <a:solidFill>
                  <a:srgbClr val="9DB1C8"/>
                </a:solidFill>
              </a:rPr>
              <a:t>→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658CC0E-AFC3-46EE-9618-EBCA4C22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4BCAB19-0DA5-4199-ADF5-0FC3D6D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API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35C490D-AD72-422F-80B8-67C39DD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清洗 / 校验 / 入库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4F6B75EF-358E-42A2-8A49-C711BADB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15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8DE37C5-1347-4EE2-8C05-249C143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DB1C8"/>
                </a:solidFill>
              </a:defRPr>
            </a:pPr>
            <a:r>
              <a:rPr sz="2250" b="1">
                <a:solidFill>
                  <a:srgbClr val="9DB1C8"/>
                </a:solidFill>
              </a:rPr>
              <a:t>→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0686B456-FB0A-4808-93B7-4FEAD6F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988F3FD-1BE4-451E-81F9-B55A457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Console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1BAB4CA-6907-4A55-9132-8D0A0A7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查询 / 分页 / 回放 / 反解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3241F2B-3590-4611-82DD-8895F17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D4FF"/>
                </a:solidFill>
              </a:defRPr>
            </a:pPr>
            <a:r>
              <a:rPr sz="150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D436764-14B0-45CB-BE82-99A09ED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720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F2FF"/>
                </a:solidFill>
              </a:defRPr>
            </a:pPr>
            <a:r>
              <a:rPr sz="1500" b="0">
                <a:solidFill>
                  <a:srgbClr val="E8F2FF"/>
                </a:solidFill>
              </a:rPr>
              <a:t>数据接收：/api/collect、/api/collect.gif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35D990A-2982-48DB-AE75-974C0590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D4FF"/>
                </a:solidFill>
              </a:defRPr>
            </a:pPr>
            <a:r>
              <a:rPr sz="150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93309A0-7A80-43A5-87A5-87C787E9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149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F2FF"/>
                </a:solidFill>
              </a:defRPr>
            </a:pPr>
            <a:r>
              <a:rPr sz="1500" b="0">
                <a:solidFill>
                  <a:srgbClr val="E8F2FF"/>
                </a:solidFill>
              </a:rPr>
              <a:t>数据存储：events、issues、replay_events、sourcemaps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E157609-6883-4CB7-81E7-87ECC1D4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D4FF"/>
                </a:solidFill>
              </a:defRPr>
            </a:pPr>
            <a:r>
              <a:rPr sz="150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416D9A-B2D3-42DC-9BFB-408B5B3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F2FF"/>
                </a:solidFill>
              </a:defRPr>
            </a:pPr>
            <a:r>
              <a:rPr sz="1500" b="0">
                <a:solidFill>
                  <a:srgbClr val="E8F2FF"/>
                </a:solidFill>
              </a:rPr>
              <a:t>生产托管：同一 Node 服务托管后台和 SDK 构建产物</a:t>
            </a:r>
          </a:p>
        </p:txBody>
      </p:sp>
    </p:spTree>
    <p:extLst>
      <p:ext uri="{BB962C8B-B14F-4D97-AF65-F5344CB8AC3E}">
        <p14:creationId xmlns:p14="http://schemas.microsoft.com/office/powerpoint/2010/main" val="1691531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749A7FBE-C225-47C2-BC39-CB5902E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76F2CDF-EB25-458B-8E84-364B387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4A3EBA-CECC-468C-AFB3-94223B8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7595776-87E1-45E4-83E4-3EFF0E8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三类核心数据覆盖体验、质量和业务决策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87181FC-645C-4F9D-BC8A-6831387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埋点、性能、错误分别回答不同问题，组合起来才形成完整前端观测。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23DD02F-DC7C-43DF-963E-DAEC068F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66A097E-8593-449D-AD6C-8455B96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2548F7C-6644-4E5F-8ADF-C636E94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D4FF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274BAD-FCCE-4F6C-971E-1B9A49B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行为埋点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C5159B8-DFDE-4359-8E41-EB3B0D5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回答“用户在哪里、做了什么、在哪一步流失”。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能力：PV、点击、曝光、路由、停留、自定义 track、用户维度查询。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6F772EC-F126-42D8-A7FB-1587B651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842C688F-B0FE-41A6-91CE-69FCD4BC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1839FCF-3730-488A-9363-0442337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性能监控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2080FB2-E8B2-43E0-A3E9-369E881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回答“页面为什么慢、接口哪里慢、资源哪里慢”。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能力：FCP、LCP、CLS、TTFB、INP/FID、longtask、resource、fetch/xhr 耗时。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8DF666A-EC76-475B-BFC6-228B0EE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CBEBD61-AD73-4065-8DEE-654F050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66C4AA-8EC5-4AF7-82CC-1A9B1F5C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错误监控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49B0E9-C647-4791-8C4D-0BCBFAF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回答“哪里报错、影响谁、如何复现”。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能力：JS 错误、Promise 异常、资源错误、接口错误、SourceMap、行为栈、rrweb 回放。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8248BCF-F826-4811-9A1F-44EE4EF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F2FF"/>
                </a:solidFill>
              </a:defRPr>
            </a:pPr>
            <a:r>
              <a:rPr sz="1800" b="1">
                <a:solidFill>
                  <a:srgbClr val="E8F2FF"/>
                </a:solidFill>
              </a:rPr>
              <a:t>这三类数据合在一起，支撑产品优化、研发排障和管理层质量评估。</a:t>
            </a:r>
          </a:p>
        </p:txBody>
      </p:sp>
    </p:spTree>
    <p:extLst>
      <p:ext uri="{BB962C8B-B14F-4D97-AF65-F5344CB8AC3E}">
        <p14:creationId xmlns:p14="http://schemas.microsoft.com/office/powerpoint/2010/main" val="77203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652BB07-F886-439A-A1D1-EB5325BC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F087D672-AA18-40D9-96D4-B2B530EF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C816971-E889-4919-8E49-106E7E0C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32EF27-436D-4FE4-89D1-016AE30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自研的关键价值是数据、口径和成本可控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80B160-DE11-46F9-9FEC-CE25CD6A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334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第三方平台适合快速启动，但长期会受套餐、字段模型和私有化能力约束。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DD6DF1-FE18-4E7C-B23F-0C4B156D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F0CE2BD-BDB3-47EC-A0F5-E4E62757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维度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05740AC-E7F2-4EDB-A3FD-C568A53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DB1C8"/>
                </a:solidFill>
              </a:defRPr>
            </a:pPr>
            <a:r>
              <a:rPr sz="1350" b="1">
                <a:solidFill>
                  <a:srgbClr val="9DB1C8"/>
                </a:solidFill>
              </a:rPr>
              <a:t>第三方平台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BB3DB6-15A8-4C42-BC68-48D277A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Web Collection</a:t>
            </a:r>
            <a:r>
              <a:rPr sz="1350" b="1">
                <a:solidFill>
                  <a:srgbClr val="34D399"/>
                </a:solidFill>
              </a:rPr>
              <a:t> 自研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5C937E1-83A6-40B5-9A0C-C448BF1B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5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AF1EE13-5E85-434D-BF39-9BC15A6E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数据归属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6431BF5-2F02-47C8-913A-FD179C8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B1C8"/>
                </a:solidFill>
              </a:defRPr>
            </a:pPr>
            <a:r>
              <a:rPr sz="1350" b="0">
                <a:solidFill>
                  <a:srgbClr val="9DB1C8"/>
                </a:solidFill>
              </a:rPr>
              <a:t>进入第三方平台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B10A334-169D-4BAA-A347-F5BFB9AF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保留在公司内部数据库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AD88D29-B033-40E9-B8CA-2A83135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045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41076C5-C48C-45E9-BBB4-76D3EFA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埋点口径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4F14ADB-930C-483A-85B2-E16160F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B1C8"/>
                </a:solidFill>
              </a:defRPr>
            </a:pPr>
            <a:r>
              <a:rPr sz="1350" b="0">
                <a:solidFill>
                  <a:srgbClr val="9DB1C8"/>
                </a:solidFill>
              </a:rPr>
              <a:t>受平台事件模型约束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CC7E91-999D-4028-9470-E4AE480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按业务动作自由定义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240B1453-EF86-4964-8FEB-42C7EBF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45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C7EC5C-4CCD-4623-97C2-D35A21D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成本模型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C6878E6-4722-4C13-B7A0-D34A6AA4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10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B1C8"/>
                </a:solidFill>
              </a:defRPr>
            </a:pPr>
            <a:r>
              <a:rPr sz="1350" b="0">
                <a:solidFill>
                  <a:srgbClr val="9DB1C8"/>
                </a:solidFill>
              </a:rPr>
              <a:t>随上报量和功能包增长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3D3E6EA-F648-49AA-806B-A8070662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服务器、数据库和存储可控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040CE307-88A3-4116-8572-1B36109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5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22F9863-0326-498F-8E8C-85AD82F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二次开发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8822D59-6102-4FCD-A176-57A5C29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DB1C8"/>
                </a:solidFill>
              </a:defRPr>
            </a:pPr>
            <a:r>
              <a:rPr sz="1350" b="0">
                <a:solidFill>
                  <a:srgbClr val="9DB1C8"/>
                </a:solidFill>
              </a:rPr>
              <a:t>依赖开放能力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5979FA8-DD02-4CEF-99B4-6FC52F8D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可直接对接 BI、告警、工单、发布系统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E2E81D3-5B64-4B3F-9123-9D8967B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D4FF"/>
                </a:solidFill>
              </a:defRPr>
            </a:pPr>
            <a:r>
              <a:rPr sz="1650" b="1">
                <a:solidFill>
                  <a:srgbClr val="2DD4FF"/>
                </a:solidFill>
              </a:rPr>
              <a:t>建议定位：第三方可作为参考或短期兜底，自研作为长期可控的前端监控底座。</a:t>
            </a:r>
          </a:p>
        </p:txBody>
      </p:sp>
    </p:spTree>
    <p:extLst>
      <p:ext uri="{BB962C8B-B14F-4D97-AF65-F5344CB8AC3E}">
        <p14:creationId xmlns:p14="http://schemas.microsoft.com/office/powerpoint/2010/main" val="363195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99967FC0-1370-4433-B7A5-90D583D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0231027-5558-4EA7-A067-471E220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697C1D3-E2A8-45A7-9C1E-817480F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B29A61E-F7CA-4533-BC58-8A43D81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64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主流监控平台都能快速接入，但成本口径和产品边界不同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2113DB7-020F-4734-AB23-56CC3FEF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334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公开价格显示：上报量、数据量、会话与事件额度都会随业务规模进入持续计费。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798ECD-38FF-41C7-A426-5C92B74C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DCE918D5-73BA-4A67-AC36-711DE137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CA62F4A-B14F-4838-94A0-B851E3F2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19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DD4FF"/>
                </a:solidFill>
              </a:defRPr>
            </a:pPr>
            <a:r>
              <a:rPr sz="2400" b="1">
                <a:solidFill>
                  <a:srgbClr val="2DD4FF"/>
                </a:solidFill>
              </a:rPr>
              <a:t>腾讯云 RUM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93EFC7-32D5-45A6-B3CD-DCB4695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" y="2114550"/>
            <a:ext cx="20231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50 万条/日免费；超额 0.34 元/万条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257B323A-9485-4E43-9202-44D61F1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28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8522F7-F2AC-486F-8F91-4372A01A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19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BBF24"/>
                </a:solidFill>
              </a:defRPr>
            </a:pPr>
            <a:r>
              <a:rPr sz="2400" b="1">
                <a:solidFill>
                  <a:srgbClr val="FBBF24"/>
                </a:solidFill>
              </a:rPr>
              <a:t>阿里云 ARMS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2DB36CB-C51D-426A-8F5F-2FBFEF9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写入量+功能；应用监控 0.4 元/GB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68A9027-B8A7-4B24-98E0-FE203D2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7868A2-4937-4971-897B-3951051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4D399"/>
                </a:solidFill>
              </a:defRPr>
            </a:pPr>
            <a:r>
              <a:rPr sz="2400" b="1">
                <a:solidFill>
                  <a:srgbClr val="34D399"/>
                </a:solidFill>
              </a:rPr>
              <a:t>Datadog RUM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B6BD782-01A6-4740-99D5-860F6C6F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65" y="2114550"/>
            <a:ext cx="2369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Measure $0.15；Replay $2.50/千会话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0E34A4B-120A-4B82-A53E-0921EFEC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287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6BC9DAD-5F6B-463E-94EE-730FF0F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B7185"/>
                </a:solidFill>
              </a:defRPr>
            </a:pPr>
            <a:r>
              <a:rPr sz="2400" b="1">
                <a:solidFill>
                  <a:srgbClr val="FB7185"/>
                </a:solidFill>
              </a:rPr>
              <a:t>Sentry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849AE5D-488B-4979-B9C1-80727FF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65" y="2114550"/>
            <a:ext cx="233108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DB1C8"/>
                </a:solidFill>
              </a:defRPr>
            </a:pPr>
            <a:r>
              <a:rPr sz="1125" b="0">
                <a:solidFill>
                  <a:srgbClr val="9DB1C8"/>
                </a:solidFill>
              </a:rPr>
              <a:t>Team $26/月；Business $80/月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C69C812-0BC8-478F-A01E-8B51BEB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价格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A4F71F-D084-408F-A2ED-F9C5112B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上报量越大越需关注账单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CD7B120-C409-4DA6-818F-E14C6D4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通过采样、批量、保留周期控制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FC4D6BDD-A877-40FD-8C99-1C15D20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26AC65-D219-4EAC-B852-ECBEFA5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自定义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0AB245F-D89B-4852-B25A-812473D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受产品模型和开放能力限制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59E8A77-E1CF-45B1-9DEE-2922C498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事件、用户、业务字段完全可控</a:t>
            </a:r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878FA97F-BB75-4105-AF3E-5F88B51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D08E872-4FF7-4FAD-872D-55A610F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数据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2771DB-4F33-46F3-9F15-E8490CEA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需评估数据出域和合规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9E6ED57-E33C-4F10-9E1B-97CC8804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天然私有化，数据留在内部</a:t>
            </a: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785F60D7-C0DA-4031-AB5F-FA54D3EC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7CC67A7-5DAD-4E1C-A39E-4BA87F3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回放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8FDA815-5462-4EB8-AC9C-606DEF6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取决于产品与套餐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044A5B9-BD12-4055-B3FE-6009030B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当前已接 rrweb 录制和播放</a:t>
            </a:r>
          </a:p>
        </p:txBody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5BC32EC6-E347-4690-AEA3-C26F4F9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7174EA-81DE-4008-A94B-A35B7B8B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DB1C8"/>
                </a:solidFill>
              </a:defRPr>
            </a:pPr>
            <a:r>
              <a:rPr sz="1050" b="0">
                <a:solidFill>
                  <a:srgbClr val="9DB1C8"/>
                </a:solidFill>
              </a:rPr>
              <a:t>公开价格截至 2026-07-15；美元为年付起步价，正式采购以厂商官网为准。</a:t>
            </a:r>
          </a:p>
        </p:txBody>
      </p:sp>
    </p:spTree>
    <p:extLst>
      <p:ext uri="{BB962C8B-B14F-4D97-AF65-F5344CB8AC3E}">
        <p14:creationId xmlns:p14="http://schemas.microsoft.com/office/powerpoint/2010/main" val="945392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618FD747-3DB0-4ED6-810B-6255E27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E14C31E-A836-4464-A88E-72722F6C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DAEA242-AA02-4755-8D3C-26A17F2C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3085C4-C32A-4299-8363-8619978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当前项目已经具备生产后台的核心能力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401EAA9-2E96-4A3D-AE16-A70B421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" y="11049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已经不是文档方案，而是可以继续接业务试点的工程底座。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0367E76-5F04-4558-ABFD-8045DCF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BF12080-022E-4924-AC64-6C6F33C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3048000" cy="3714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F905D1-4023-49D7-95E8-903362F5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D4FF"/>
                </a:solidFill>
              </a:defRPr>
            </a:pPr>
            <a:r>
              <a:rPr sz="2250" b="1">
                <a:solidFill>
                  <a:srgbClr val="2DD4FF"/>
                </a:solidFill>
              </a:rPr>
              <a:t>SDK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25B7AC-0F38-4CA3-82C1-45709B25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7D0B2AB-5052-4CC3-A737-A076E54B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Web 行为、性能、错误、回放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AADD51-E5C3-40F3-B892-64C4127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5EEBF6C-4A87-449C-BFEF-8CCF17A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fetch / xhr / WS / SSE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CDAA932-0482-41F4-81E2-93D044B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0170739-B6F1-4317-8A74-FEA05371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用户信息与 setUser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26EDEBD-053A-464D-A2B3-2AC7A10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E497282-17E1-47A6-B973-8B509A8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TS 类型，ES / IIFE / CJS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34F1261-1BA2-468C-9C83-46E8770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3048000" cy="3714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30DDAF2-17BC-41D0-B0ED-E424847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47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4D399"/>
                </a:solidFill>
              </a:defRPr>
            </a:pPr>
            <a:r>
              <a:rPr sz="2250" b="1">
                <a:solidFill>
                  <a:srgbClr val="34D399"/>
                </a:solidFill>
              </a:rPr>
              <a:t>API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E227AD-ECCB-4D5A-8279-3D956D2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5272741-C788-48CA-A78A-402C4DC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数据接收与清洗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71186A7-B073-42F2-BDAD-43ECC66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95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C4D78A9-0105-4F9A-B995-8BC05494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PostgreSQL 入库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7DE00D1-7E02-45E5-8E44-B6248B2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AB48ECB-8D37-45E3-983B-0DF3498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SourceMap 上传与反解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F4D234-734F-4608-9831-FFFFEAA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81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0D18F33-B93B-4F05-8AEF-FA96C0B5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81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SDK 与 Web 静态托管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B3942952-C237-4554-9896-4910707B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048000" cy="3714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1DE429D-47D1-491B-AB28-9546B135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后台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38CFC60-EC33-4F45-BCD3-3750F95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8E1108-674F-4417-86A1-AD9DA1D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多页面 Vue3 控制台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69A296F-105C-423D-A320-A5D0B9A1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2801EFC-3424-46CA-8D9A-66B070F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统一查询和分页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F15CF59-3D5E-4B78-9F81-1F5CB54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7577618-5771-4424-AB02-5655307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24053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错误、性能、行为、事件流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34926B2-F161-45FA-839F-8D7B8DF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33DFF2C-3210-47DB-9B2C-BDEEAD2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rrweb 播放控制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F7C4AC4-60E1-4352-BF48-F38A4302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F2FF"/>
                </a:solidFill>
              </a:defRPr>
            </a:pPr>
            <a:r>
              <a:rPr sz="1800" b="1">
                <a:solidFill>
                  <a:srgbClr val="E8F2FF"/>
                </a:solidFill>
              </a:rPr>
              <a:t>能力闭环：采集 → 上报 → 存储 → 分析 → 定位 → 回放</a:t>
            </a:r>
          </a:p>
        </p:txBody>
      </p:sp>
    </p:spTree>
    <p:extLst>
      <p:ext uri="{BB962C8B-B14F-4D97-AF65-F5344CB8AC3E}">
        <p14:creationId xmlns:p14="http://schemas.microsoft.com/office/powerpoint/2010/main" val="1157790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749A7FBE-C225-47C2-BC39-CB5902E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76F2CDF-EB25-458B-8E84-364B387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4A3EBA-CECC-468C-AFB3-94223B8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7595776-87E1-45E4-83E4-3EFF0E8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统一 SDK 已覆盖 Web、小程序与 App 主流技术栈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87181FC-645C-4F9D-BC8A-6831387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同一事件模型、用户字段、队列和采集接口，降低多端重复建设成本。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23DD02F-DC7C-43DF-963E-DAEC068F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66A097E-8593-449D-AD6C-8455B96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2548F7C-6644-4E5F-8ADF-C636E94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D4FF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274BAD-FCCE-4F6C-971E-1B9A49B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Web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C5159B8-DFDE-4359-8E41-EB3B0D5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Vue 3 / React / 原生 Web。自动采集行为、性能、错误、请求、资源与 rrweb 会话回放。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6F772EC-F126-42D8-A7FB-1587B651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842C688F-B0FE-41A6-91CE-69FCD4BC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1839FCF-3730-488A-9363-0442337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小程序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2080FB2-E8B2-43E0-A3E9-369E881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微信 / 支付宝 / 抖音 / 百度 / QQ / 快手 / 京东。统一 request、页面生命周期与全局错误采集。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8DF666A-EC76-475B-BFC6-228B0EE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CBEBD61-AD73-4065-8DEE-654F050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571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66C4AA-8EC5-4AF7-82CC-1A9B1F5C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App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49B0E9-C647-4791-8C4D-0BCBFAF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743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uni-app / Taro / React Native。统一页面、请求、错误、性能事件与离线重试队列。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8248BCF-F826-4811-9A1F-44EE4EF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F2FF"/>
                </a:solidFill>
              </a:defRPr>
            </a:pPr>
            <a:r>
              <a:rPr sz="1800" b="1">
                <a:solidFill>
                  <a:srgbClr val="E8F2FF"/>
                </a:solidFill>
              </a:rPr>
              <a:t>跨端共用 /api/collect 与 PostgreSQL 数据模型；非 DOM 端不启用 rrweb。</a:t>
            </a:r>
          </a:p>
        </p:txBody>
      </p:sp>
    </p:spTree>
    <p:extLst>
      <p:ext uri="{BB962C8B-B14F-4D97-AF65-F5344CB8AC3E}">
        <p14:creationId xmlns:p14="http://schemas.microsoft.com/office/powerpoint/2010/main" val="77203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B062B00C-689C-4175-90C0-868A4A5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FFEC1C3-8ACE-4EEF-B1D2-D94C466C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8B6690-7827-4B32-A629-4219B3E0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29EDC7-F75C-4D9A-AFD2-C392102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生产部署已经支持统一构建和统一托管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EA63681-FC4F-47AF-8390-2CC4464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根目录 pnpm build 会把 Web、SDK、API 产物汇总到 dist，便于交付和部署。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9D1683-4A3A-4F82-B5F2-CEB635E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8A22E94-1B6E-4054-8606-88A8AA8F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102870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9172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41ECC7E-96B1-4F87-B3C7-EB262DFF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DD4FF"/>
                </a:solidFill>
              </a:defRPr>
            </a:pPr>
            <a:r>
              <a:rPr sz="1800" b="1">
                <a:solidFill>
                  <a:srgbClr val="2DD4FF"/>
                </a:solidFill>
              </a:rPr>
              <a:t>dist/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6BF11C4-D942-46C2-8CD9-176AF374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3009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40480F9-7B50-4647-BC70-B5434D8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98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apps/web/dist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71E6ADF-E8FC-4BC8-A57F-D7E4FB6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前端看板产物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00B46C-66A1-43AB-A2BE-6560BDB7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3009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7231D4-19AC-4D37-9E73-2A0FA989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622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packages/sdk/dist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611D37-DDD4-4FED-9407-5E2D4BB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SDK 产物：Web ES / IIFE，跨端 ES / CJS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329F78B-E037-49B9-A5C4-B72AB813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009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B8A2926-C49A-48CD-B6B9-B132BC24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apps/api/src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58C33F1-5620-452E-8DB8-8979CBAC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14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Node API 服务源码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0B6B25BF-E4C1-4086-93C7-E2A3AD1F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90975"/>
            <a:ext cx="3009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64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BF0D03-0925-43A6-9833-BA51CC6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671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ecosystem.config.cjs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DB335CB-EC77-49B4-8E59-C5AFF768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671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PM2 生产启动配置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6DF6FE4D-0467-4DC5-BD3E-433C4CA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7464181-5026-43D5-9CA0-A4A4DD4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0098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4D399"/>
                </a:solidFill>
              </a:defRPr>
            </a:pPr>
            <a:r>
              <a:rPr sz="1500" b="1">
                <a:solidFill>
                  <a:srgbClr val="34D399"/>
                </a:solidFill>
              </a:rPr>
              <a:t>同一 API 服务可托管后台页面、SDK 文件和采集接口，降低部署复杂度。</a:t>
            </a:r>
          </a:p>
        </p:txBody>
      </p:sp>
    </p:spTree>
    <p:extLst>
      <p:ext uri="{BB962C8B-B14F-4D97-AF65-F5344CB8AC3E}">
        <p14:creationId xmlns:p14="http://schemas.microsoft.com/office/powerpoint/2010/main" val="1527966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AD3BABCE-F638-40BF-8B4D-F9215BA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B2A8E4CE-3AE8-440E-9C91-948F8E3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F061A08-B9C2-4CEF-8663-9AB0382D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1EA6A8B-C6D2-482D-9BC1-8A1F1AB3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下一阶段重点补齐告警和数据治理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322043-AD41-42C6-B18F-1E56281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平台已经具备闭环基础，下一步要让它真正服务生产稳定性。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3261D5-9522-4219-9C19-9F2A9FB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C4E6E8D-F09F-47B0-B9AB-58CBDC31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2085"/>
            <a:ext cx="876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5041E7-8DAD-4426-9CB7-673CC41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B7185"/>
                </a:solidFill>
              </a:defRPr>
            </a:pPr>
            <a:r>
              <a:rPr sz="1275" b="1">
                <a:solidFill>
                  <a:srgbClr val="FB7185"/>
                </a:solidFill>
              </a:rPr>
              <a:t>P0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A9D59D-D141-4B61-89A9-C5824E8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018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告警规则与通知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1B25970-1C05-4B84-8183-D4DCAA71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错误量、性能阈值、版本回归主动提醒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F4C42FD6-6450-4FA3-A64F-41CA09BC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643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BF604EC-E07E-4F47-BC53-4A0C990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4085"/>
            <a:ext cx="876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0FD2495-39F0-48C5-8AB5-EC5ED9E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711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BBF24"/>
                </a:solidFill>
              </a:defRPr>
            </a:pPr>
            <a:r>
              <a:rPr sz="1275" b="1">
                <a:solidFill>
                  <a:srgbClr val="FBBF24"/>
                </a:solidFill>
              </a:rPr>
              <a:t>P0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739469-54E7-4547-94FC-19D4E56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4218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数据保留策略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FC5D11-A653-41E2-A44F-A9E5169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76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控制 replay、events、resource 数据体积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67671DE7-8C21-4525-B223-42DCACB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843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E4B35B6-8A53-4642-9549-3C81BE0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6085"/>
            <a:ext cx="876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13DDAF2-01A6-432C-A21E-338574D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974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DD4FF"/>
                </a:solidFill>
              </a:defRPr>
            </a:pPr>
            <a:r>
              <a:rPr sz="1275" b="1">
                <a:solidFill>
                  <a:srgbClr val="2DD4FF"/>
                </a:solidFill>
              </a:rPr>
              <a:t>P1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D223B8C-8816-4F47-8662-A8541B7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0418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应用与版本管理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18B533D-8947-4A8D-95B0-7C21563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38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支撑多业务接入和版本对比</a:t>
            </a:r>
          </a:p>
        </p:txBody>
      </p:sp>
      <p:sp>
        <p:nvSpPr>
          <p:cNvPr id="22" name="直接连接符 21">
            <a:extLst xmlns:a="http://schemas.openxmlformats.org/drawingml/2006/main">
              <a:ext uri="{FF2B5EF4-FFF2-40B4-BE49-F238E27FC236}">
                <a16:creationId xmlns:a16="http://schemas.microsoft.com/office/drawing/2014/main" id="{1C3BFCF1-AB12-4871-9E14-D79CB28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8043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77A5D40D-72FD-4CFE-BC2B-743CC2E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8085"/>
            <a:ext cx="876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7614B3B-7AD5-446F-8CF6-C96E0FA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904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4D399"/>
                </a:solidFill>
              </a:defRPr>
            </a:pPr>
            <a:r>
              <a:rPr sz="1275" b="1">
                <a:solidFill>
                  <a:srgbClr val="34D399"/>
                </a:solidFill>
              </a:rPr>
              <a:t>P1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62E117D-A59A-4156-8182-7F3D3E6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6618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SourceMap 上传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7DD46AE-822F-4C59-A100-66B2FBC5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00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发版自动关联错误源码位置</a:t>
            </a:r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E8B93E00-FC56-452B-A3E9-1E5E2D99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243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497D46AA-7743-43E2-8E3C-C236FD4C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0085"/>
            <a:ext cx="876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9DB1C8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94A7BD1-733F-4ED5-9661-34BB2B2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866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9DB1C8"/>
                </a:solidFill>
              </a:defRPr>
            </a:pPr>
            <a:r>
              <a:rPr sz="1275" b="1">
                <a:solidFill>
                  <a:srgbClr val="9DB1C8"/>
                </a:solidFill>
              </a:rPr>
              <a:t>P2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5057236-EFDD-46AD-95FA-03D95CF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2818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2FF"/>
                </a:solidFill>
              </a:defRPr>
            </a:pPr>
            <a:r>
              <a:rPr sz="1650" b="1">
                <a:solidFill>
                  <a:srgbClr val="E8F2FF"/>
                </a:solidFill>
              </a:rPr>
              <a:t>采样后台配置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069B643-4829-4103-8B42-3EDD7D77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62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DB1C8"/>
                </a:solidFill>
              </a:defRPr>
            </a:pPr>
            <a:r>
              <a:rPr sz="1275" b="0">
                <a:solidFill>
                  <a:srgbClr val="9DB1C8"/>
                </a:solidFill>
              </a:rPr>
              <a:t>高流量业务按应用动态控量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EADEDC46-E7A8-4EFA-95D8-2A67C99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443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292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05E37F6-B6EB-405A-9299-8EE86EA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0A59A775-2814-44B4-9148-9EB066E6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B5F36C-D0D7-4893-A834-8717E94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CDB4A8C-7AC2-4F2A-A4B1-279DAA9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建议将 </a:t>
            </a:r>
            <a:r>
              <a:rPr sz="2550" b="1">
                <a:solidFill>
                  <a:srgbClr val="E8F2FF"/>
                </a:solidFill>
              </a:rPr>
              <a:t>Web Collection</a:t>
            </a:r>
            <a:r>
              <a:rPr sz="2550" b="1">
                <a:solidFill>
                  <a:srgbClr val="E8F2FF"/>
                </a:solidFill>
              </a:rPr>
              <a:t> 作为公司前端监控底座推进试点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50ACFF0-A8D1-4996-9CD9-EBA2588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自研平台把体验、质量和业务数据留在内部，长期成本和扩展性更可控。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F5CE4E8-95D2-43F9-9221-3B70C25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6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83B22D4-1EBC-4766-A94A-FB81087D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建议决策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A0F76B-A208-4A34-95E3-2BDAEEA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D4FF"/>
                </a:solidFill>
              </a:defRPr>
            </a:pPr>
            <a:r>
              <a:rPr sz="16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94AB10F-8BC4-4A1C-BD53-7D2261D7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38375"/>
            <a:ext cx="870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8F2FF"/>
                </a:solidFill>
              </a:defRPr>
            </a:pPr>
            <a:r>
              <a:rPr sz="1650" b="0">
                <a:solidFill>
                  <a:srgbClr val="E8F2FF"/>
                </a:solidFill>
              </a:rPr>
              <a:t>选择 Web 与移动端核心业务接入，验证统一事件、错误定位、性能和回放价值。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4A16EEA-965A-4662-86D1-3BD292D8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1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D4FF"/>
                </a:solidFill>
              </a:defRPr>
            </a:pPr>
            <a:r>
              <a:rPr sz="16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A3680A-30DC-4E5C-B1C5-53E2A820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81275"/>
            <a:ext cx="870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8F2FF"/>
                </a:solidFill>
              </a:defRPr>
            </a:pPr>
            <a:r>
              <a:rPr sz="1650" b="0">
                <a:solidFill>
                  <a:srgbClr val="E8F2FF"/>
                </a:solidFill>
              </a:rPr>
              <a:t>把 SourceMap 上传接入发版流程，形成线上错误到源码的自动映射。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C9CFDEA-04C0-462B-B3C2-F4160432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D4FF"/>
                </a:solidFill>
              </a:defRPr>
            </a:pPr>
            <a:r>
              <a:rPr sz="16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B5A4504-BBF6-45A2-94D0-1762195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24175"/>
            <a:ext cx="870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8F2FF"/>
                </a:solidFill>
              </a:defRPr>
            </a:pPr>
            <a:r>
              <a:rPr sz="1650" b="0">
                <a:solidFill>
                  <a:srgbClr val="E8F2FF"/>
                </a:solidFill>
              </a:rPr>
              <a:t>补齐 P0 告警和数据保留策略后，再扩大到多业务统一接入。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40C7AB1-AB11-4755-BA37-705DCB5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895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50FD5C-E962-4FBF-AC91-6AF6BED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60" y="4940935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8F2FF"/>
                </a:solidFill>
              </a:defRPr>
            </a:pPr>
            <a:r>
              <a:rPr sz="1875" b="1">
                <a:solidFill>
                  <a:srgbClr val="E8F2FF"/>
                </a:solidFill>
              </a:rPr>
              <a:t>自研不是重复造轮子，而是把前端体验数据变成公司自己的数据资产。</a:t>
            </a:r>
          </a:p>
        </p:txBody>
      </p:sp>
    </p:spTree>
    <p:extLst>
      <p:ext uri="{BB962C8B-B14F-4D97-AF65-F5344CB8AC3E}">
        <p14:creationId xmlns:p14="http://schemas.microsoft.com/office/powerpoint/2010/main" val="1602110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0C16C-32EB-427C-9D14-F5E650A5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AC4E6-521D-46E3-84D1-9165030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主流厂商的计费口径都会随数据规模增长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EEBC4-2FA0-4DEC-B5E8-7B3F0C9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价格不是唯一问题，真正的约束来自“哪些数据算量、哪些能力另计费、数据是否出域”。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FD292-C723-4D11-8EF3-AF09EE6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24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F7182-2486-490F-8F96-F2E1C3E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2261D-50EC-4115-B64E-4BF7E4C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CC071-9CE4-4CE1-943C-3513BCCE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D4FF"/>
                </a:solidFill>
              </a:defRPr>
            </a:pPr>
            <a:r>
              <a:rPr sz="1125" b="1">
                <a:solidFill>
                  <a:srgbClr val="2DD4FF"/>
                </a:solidFill>
              </a:rPr>
              <a:t>厂商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B9E42-D86D-4958-AEC4-EC1BCF2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2190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EA79A-EAF4-4C2D-A9A7-F7C80AAE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D4FF"/>
                </a:solidFill>
              </a:defRPr>
            </a:pPr>
            <a:r>
              <a:rPr sz="1125" b="1">
                <a:solidFill>
                  <a:srgbClr val="2DD4FF"/>
                </a:solidFill>
              </a:rPr>
              <a:t>计量口径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4698E-B744-4609-9EDE-12E8A434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2190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A42BA-1E30-4E21-AB00-2B64102B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57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D4FF"/>
                </a:solidFill>
              </a:defRPr>
            </a:pPr>
            <a:r>
              <a:rPr sz="1125" b="1">
                <a:solidFill>
                  <a:srgbClr val="2DD4FF"/>
                </a:solidFill>
              </a:rPr>
              <a:t>公开价格 / 额度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8B9A6-027B-4DBE-8BAE-66E6AF0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43050"/>
            <a:ext cx="2190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08C8C-1116-4F3C-97F4-B69A1CBA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D4FF"/>
                </a:solidFill>
              </a:defRPr>
            </a:pPr>
            <a:r>
              <a:rPr sz="1125" b="1">
                <a:solidFill>
                  <a:srgbClr val="2DD4FF"/>
                </a:solidFill>
              </a:rPr>
              <a:t>适合场景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A290F-DE12-47DA-BF76-C842E7DE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33DE7-5F09-4FC3-96EA-BBD6178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57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D4FF"/>
                </a:solidFill>
              </a:defRPr>
            </a:pPr>
            <a:r>
              <a:rPr sz="1125" b="1">
                <a:solidFill>
                  <a:srgbClr val="2DD4FF"/>
                </a:solidFill>
              </a:rPr>
              <a:t>主要限制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5C668-6ACD-4832-8873-FA3198D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97591-D700-4DC2-9FE0-A51D79C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腾讯 RUM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469A5-69FA-433E-9EC8-5B36B7D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PV、API、资源、错误、自定义上报都计入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9EB8C-77F4-45F1-931B-F0B9468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50万条/日免费；超出0.34元/万条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04F1F-2B24-435D-9A8D-8B810C3B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腾讯云体系内快速接入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AFA25-8CAD-4DA7-B0AA-1437B2E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BBF24"/>
                </a:solidFill>
              </a:defRPr>
            </a:pPr>
            <a:r>
              <a:rPr sz="975" b="0">
                <a:solidFill>
                  <a:srgbClr val="FBBF24"/>
                </a:solidFill>
              </a:rPr>
              <a:t>高频埋点会推高账单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9F0B7-97E0-4FA8-B957-0B3BD11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5BDA7-4DC3-4AAE-8424-56152890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阿里 ARMS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083B2-0813-4067-AF1C-3E566B1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PV、API、自定义；RUM可按事件或会话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8930C-4C31-4BC6-8BE2-E6FDBC70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200万页面上报420元起；资源包阶梯折扣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4729D-76ED-42A1-94C1-99F7586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阿里云体系与应用监控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A01BC-AE59-4325-B03C-230366CA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BBF24"/>
                </a:solidFill>
              </a:defRPr>
            </a:pPr>
            <a:r>
              <a:rPr sz="975" b="0">
                <a:solidFill>
                  <a:srgbClr val="FBBF24"/>
                </a:solidFill>
              </a:rPr>
              <a:t>复杂页面和多API成本敏感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B6BE8-5ADA-49BF-951C-410FD93C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5B090-D5EC-4F32-A2F8-4AC9CF5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Datadog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97FC7-7B1A-4EB1-BA1F-BB9AA065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按1000个RUM Session计费，回放独立能力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FEE41-02FD-4C11-A71A-52FCE3EF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官网按区域、套餐、年付/月付变化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D4EC9-25A8-46BA-AF8C-84D4E25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全栈可观测体系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167B1-1ACE-4945-BEFC-D06AC52E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BBF24"/>
                </a:solidFill>
              </a:defRPr>
            </a:pPr>
            <a:r>
              <a:rPr sz="975" b="0">
                <a:solidFill>
                  <a:srgbClr val="FBBF24"/>
                </a:solidFill>
              </a:rPr>
              <a:t>国际化强但预算波动大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5C2B9-6A69-4615-8855-764501D3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D1858-5FED-4E95-99AA-89A5793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Sentry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2B3A0F-312C-4908-B04A-BCB4DFF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Errors、Spans、Replays、Logs、Metrics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C3D10C-220F-4D63-95A5-7C5E5E0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Business起步80美元/月，含50k errors、50 replays等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23AAD3-1C0E-4989-8C4A-D2B23A0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错误监控和研发排障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E65FA9-9E4E-4559-AD8A-EDE71CB0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05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BBF24"/>
                </a:solidFill>
              </a:defRPr>
            </a:pPr>
            <a:r>
              <a:rPr sz="975" b="0">
                <a:solidFill>
                  <a:srgbClr val="FBBF24"/>
                </a:solidFill>
              </a:rPr>
              <a:t>行为埋点不是核心定位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63D3DF-D342-49D0-ADF6-AFE706DD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4CB0B5-397C-422F-90FC-18380E88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F2FF"/>
                </a:solidFill>
              </a:defRPr>
            </a:pPr>
            <a:r>
              <a:rPr sz="1125" b="1">
                <a:solidFill>
                  <a:srgbClr val="E8F2FF"/>
                </a:solidFill>
              </a:rPr>
              <a:t>Web Collection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D823A6-E8A0-4BF2-9A7D-F12CC61A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自有事件和回放入内部数据库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A76C39-C72E-4101-A1D6-D44E52CB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0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无外部事件单价，按机器和存储治理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6BE67B-B24A-4C01-8D5B-32A30A5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10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8F2FF"/>
                </a:solidFill>
              </a:defRPr>
            </a:pPr>
            <a:r>
              <a:rPr sz="975" b="0">
                <a:solidFill>
                  <a:srgbClr val="E8F2FF"/>
                </a:solidFill>
              </a:rPr>
              <a:t>公司多业务统一监控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CD3FC-3128-43FB-B1AF-2F51CF7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BBF24"/>
                </a:solidFill>
              </a:defRPr>
            </a:pPr>
            <a:r>
              <a:rPr sz="975" b="0">
                <a:solidFill>
                  <a:srgbClr val="FBBF24"/>
                </a:solidFill>
              </a:rPr>
              <a:t>需要内部持续建设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7C13CC-2F84-4B1B-9CF0-7053F68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2455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4D399"/>
                </a:solidFill>
              </a:defRPr>
            </a:pPr>
            <a:r>
              <a:rPr sz="1425" b="1">
                <a:solidFill>
                  <a:srgbClr val="34D399"/>
                </a:solidFill>
              </a:rPr>
              <a:t>结论：第三方可以快速起步，但当事件量、回放量、用户维度和业务自定义增加后，自研的边际成本和可控性更优。</a:t>
            </a:r>
          </a:p>
        </p:txBody>
      </p:sp>
    </p:spTree>
    <p:extLst>
      <p:ext uri="{BB962C8B-B14F-4D97-AF65-F5344CB8AC3E}">
        <p14:creationId xmlns:p14="http://schemas.microsoft.com/office/powerpoint/2010/main" val="310501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1F8C3F-822E-4FDE-91DA-DFF6742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CD07-EE78-4E99-B5EB-C8014D5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按腾讯 RUM 公开口径测算，中等复杂页面月成本已可观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3C340-B1E7-47F5-ADA7-E381F8AC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估算只用于说明成本敏感性：PV、API、资源、错误、自定义事件都会进入上报量。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FBBD-8552-4367-898F-DC73FF34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24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4F5FA-2DB4-4F79-B502-5458ADF7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91E87-AE9E-4ABC-A126-6F86F07C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572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AA9BC-522F-4762-9589-1BCF1A14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D4FF"/>
                </a:solidFill>
              </a:defRPr>
            </a:pPr>
            <a:r>
              <a:rPr sz="1875" b="1">
                <a:solidFill>
                  <a:srgbClr val="2DD4FF"/>
                </a:solidFill>
              </a:rPr>
              <a:t>日上报量估算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8506C-2DBC-48C3-8B89-A90E0CB1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DD48E-BEA1-44A2-AC13-D4714ABE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100万 PV / 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9E186-6ECD-4EED-836F-7A4A2290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91B80-4225-4E5E-A317-AC8C77CC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平均每页 2 次 API 监控：200万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A9CB3-FF0A-4304-AC39-1CD1B31F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EBFFD-9120-4367-A678-CC39922B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平均每页 2 次资源监控：200万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D2D59-B43C-465B-87E5-3789836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BCB21-B2D0-4B84-A81D-CF82BA74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自定义埋点 20万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13755-3077-4FE5-9569-6B80726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F240D-97FD-45A9-87AE-F8F28E1D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合计约 520万条 / 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4D3A8-FF6B-4955-8F20-4CF847B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572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16937-33B2-40A9-913E-502FAF1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4D399"/>
                </a:solidFill>
              </a:defRPr>
            </a:pPr>
            <a:r>
              <a:rPr sz="1875" b="1">
                <a:solidFill>
                  <a:srgbClr val="34D399"/>
                </a:solidFill>
              </a:rPr>
              <a:t>月成本推导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2AE61-7FB3-44A6-9701-DEE19AAE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C682E-C44B-4243-87A4-523695B8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扣除 50万免费额度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1256-FAFD-4DF1-BA36-DA324AB8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889B7-0FEC-4ACB-9834-0C5D5B3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计费量约 470万条 / 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CA03E-8708-4774-B585-1C84B98E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4636D-AC8E-466B-AA41-BF23967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470 × 0.34 × 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81AFB-E49A-43E0-A90E-F2EE67F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3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73903-5449-42D1-8464-D5166F62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约 4794 元 / 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1D75C-8A70-4109-A49C-272CE7A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D4FF"/>
                </a:solidFill>
              </a:defRPr>
            </a:pPr>
            <a:r>
              <a:rPr sz="1350" b="1">
                <a:solidFill>
                  <a:srgbClr val="2DD4FF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05D65E-DBD7-415D-B4ED-5A8252A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F2FF"/>
                </a:solidFill>
              </a:defRPr>
            </a:pPr>
            <a:r>
              <a:rPr sz="1350" b="0">
                <a:solidFill>
                  <a:srgbClr val="E8F2FF"/>
                </a:solidFill>
              </a:rPr>
              <a:t>更多埋点、回放、错误日志会继续放大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E13CC-BDD9-47A4-BF5D-5FA43EC6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105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2EBD4-A399-4EFF-A5BD-6FC3B03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86400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BBF24"/>
                </a:solidFill>
              </a:defRPr>
            </a:pPr>
            <a:r>
              <a:rPr sz="1500" b="1">
                <a:solidFill>
                  <a:srgbClr val="FBBF24"/>
                </a:solidFill>
              </a:rPr>
              <a:t>自研平台可通过采样、批量上报、字段裁剪、回放抽样和保留周期主动控量。</a:t>
            </a:r>
          </a:p>
        </p:txBody>
      </p:sp>
    </p:spTree>
    <p:extLst>
      <p:ext uri="{BB962C8B-B14F-4D97-AF65-F5344CB8AC3E}">
        <p14:creationId xmlns:p14="http://schemas.microsoft.com/office/powerpoint/2010/main" val="19192003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0A949-92BA-4D40-9003-97CB3E1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FA9D5-A91B-428C-83D2-52A52BAE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8F2FF"/>
                </a:solidFill>
              </a:defRPr>
            </a:pPr>
            <a:r>
              <a:rPr sz="2550" b="1">
                <a:solidFill>
                  <a:srgbClr val="E8F2FF"/>
                </a:solidFill>
              </a:rPr>
              <a:t>数据支撑后的判断：自研更适合作为公司长期监控底座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ED5D1-F148-4251-BF06-708541C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DB1C8"/>
                </a:solidFill>
              </a:defRPr>
            </a:pPr>
            <a:r>
              <a:rPr sz="1200" b="0">
                <a:solidFill>
                  <a:srgbClr val="9DB1C8"/>
                </a:solidFill>
              </a:rPr>
              <a:t>不是否定第三方，而是把第三方放在“参考、补充、短期兜底”的位置。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E9493-B048-4BD9-8121-E620965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24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DD4FF"/>
                </a:solidFill>
              </a:defRPr>
            </a:pPr>
            <a:r>
              <a:rPr sz="975" b="1">
                <a:solidFill>
                  <a:srgbClr val="2DD4FF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A0930-5D52-4A03-8D37-0005BEF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5C692-0B6C-45C8-B855-BFFC188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4381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994F6-F8C9-4FBC-B4D7-72E726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BBF24"/>
                </a:solidFill>
              </a:defRPr>
            </a:pPr>
            <a:r>
              <a:rPr sz="1875" b="1">
                <a:solidFill>
                  <a:srgbClr val="FBBF24"/>
                </a:solidFill>
              </a:rPr>
              <a:t>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E4481-8B2B-41A0-8C8E-C5BE974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24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第三方按事件、会话、回放等计费，业务增长会直接进入账单。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7CCD0-B947-4DF4-80FC-2A56D20C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4381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D2EE1-2258-459B-9819-61570AAB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4D399"/>
                </a:solidFill>
              </a:defRPr>
            </a:pPr>
            <a:r>
              <a:rPr sz="1875" b="1">
                <a:solidFill>
                  <a:srgbClr val="34D399"/>
                </a:solidFill>
              </a:rPr>
              <a:t>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F6A5-A033-45FE-BACE-EBF120AA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用户、手机号、业务行为、回放数据保留在内部，合规边界更清晰。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8EDEF-C293-40AC-B204-B30EE9E4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4381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D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DE3D6-EE15-4102-8DFF-0063FC37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D4FF"/>
                </a:solidFill>
              </a:defRPr>
            </a:pPr>
            <a:r>
              <a:rPr sz="1875" b="1">
                <a:solidFill>
                  <a:srgbClr val="2DD4FF"/>
                </a:solidFill>
              </a:rPr>
              <a:t>定制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299AB-396A-4EBC-B6BE-2E5E878B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43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事件模型、查询条件、脱敏规则、回放策略、告警规则都可按业务调整。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C533-ECB4-44C5-A156-A651B559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4381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82A86-EEFE-483A-B4BF-3BCDD6E2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B7185"/>
                </a:solidFill>
              </a:defRPr>
            </a:pPr>
            <a:r>
              <a:rPr sz="1875" b="1">
                <a:solidFill>
                  <a:srgbClr val="FB7185"/>
                </a:solidFill>
              </a:rPr>
              <a:t>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04A99-1B0A-429A-8DA9-438AEB1C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统一 SDK 和后台可服务多个业务，越多项目接入，边际收益越高。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2C309-3CE5-4FB7-80AE-5647184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5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9794E-481B-4E1B-824D-CD242A85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4D399"/>
                </a:solidFill>
              </a:defRPr>
            </a:pPr>
            <a:r>
              <a:rPr sz="1575" b="1">
                <a:solidFill>
                  <a:srgbClr val="34D399"/>
                </a:solidFill>
              </a:rPr>
              <a:t>建议：先以核心业务试点验证价值，补齐告警和数据治理后，再推进多业务统一接入。</a:t>
            </a:r>
          </a:p>
        </p:txBody>
      </p:sp>
    </p:spTree>
    <p:extLst>
      <p:ext uri="{BB962C8B-B14F-4D97-AF65-F5344CB8AC3E}">
        <p14:creationId xmlns:p14="http://schemas.microsoft.com/office/powerpoint/2010/main" val="873069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2026-07-15T04:21:49.7910000Z</dcterms:created>
  <dcterms:modified xsi:type="dcterms:W3CDTF">2026-07-15T04:21:49.7910000Z</dcterms:modified>
</coreProperties>
</file>